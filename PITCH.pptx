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The Case Study Engine</a:t>
            </a:r>
          </a:p>
          <a:p>
            <a:r>
              <a:rPr sz="1500">
                <a:solidFill>
                  <a:srgbClr val="6B7280"/>
                </a:solidFill>
              </a:rPr>
              <a:t>From a messy 8-month project folder to a case study the client can 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F2937"/>
                </a:solidFill>
              </a:rPr>
              <a:t>Agents with one job each: the LLM does the judgement (contract rules, KPI definitions, exposure, writing for three readers); code does the counting and checking.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F2937"/>
                </a:solidFill>
              </a:rPr>
              <a:t>Every line cites a file and line, or a calculation. The verifier refuses wrong numbers, drifted citations, identifiers and unmarked estimates; a fixer agent gets the refused lines back.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F2937"/>
                </a:solidFill>
              </a:rPr>
              <a:t>Two human stops (our delivery owner, then the client's authorised signatories). Approvals are bound to the pack's hash; 'no' and withdrawal are handled; every project is in one register.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F2937"/>
                </a:solidFill>
              </a:rPr>
              <a:t>The same code runs another project's library: only a new metric spec (test 10).</a:t>
            </a:r>
          </a:p>
        </p:txBody>
      </p:sp>
      <p:pic>
        <p:nvPicPr>
          <p:cNvPr id="4" name="Picture 3" descr="diagram_onpr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94960" cy="25654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What it found in the library</a:t>
            </a:r>
          </a:p>
          <a:p>
            <a:r>
              <a:rPr sz="1500">
                <a:solidFill>
                  <a:srgbClr val="6B7280"/>
                </a:solidFill>
              </a:rPr>
              <a:t>All signed pilot KPIs recomputed exactly from raw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F2937"/>
                </a:solidFill>
              </a:rPr>
              <a:t>Refused: the sales headline '74% to 97%, zero LTIs, Rs 2.3 Cr'. It mixes baselines, uses one zone's best week, and claims savings Finance rejected.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F2937"/>
                </a:solidFill>
              </a:rPr>
              <a:t>True story: PPE 69% to 91% in the pilot (met), 94% in those areas by September; zone breaches -46% (missed), then -77% after the client's own guards.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F2937"/>
                </a:solidFill>
              </a:rPr>
              <a:t>Credit shared: the client's safety week, toolbox talks, contractor discipline, guards, and phone escalation. Gate time is -24%, with the client's weighbridge and dispatch slots doing part.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F2937"/>
                </a:solidFill>
              </a:rPr>
              <a:t>Exposure: plant GPS inside the snapshot file, signage in images, a public post linking client to vendor, and the plant's capacity in the annual report. All media was redrawn from data.</a:t>
            </a:r>
          </a:p>
        </p:txBody>
      </p:sp>
      <p:pic>
        <p:nvPicPr>
          <p:cNvPr id="4" name="Picture 3" descr="chart_ppe_compliance_by_co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9496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Getting to yes</a:t>
            </a:r>
          </a:p>
          <a:p>
            <a:r>
              <a:rPr sz="1500">
                <a:solidFill>
                  <a:srgbClr val="6B7280"/>
                </a:solidFill>
              </a:rPr>
              <a:t>Safe and rewarding for the people who 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F2937"/>
                </a:solidFill>
              </a:rPr>
              <a:t>Gatekeeper: on-prem, no egress, text-only alerts, face module removed with the hash verified by the client's IT, the outage handled openly.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F2937"/>
                </a:solidFill>
              </a:rPr>
              <a:t>User: a normal day before and after. False alarms checked by their own team; the photo ended arguments; the gang leaders check helmets themselves.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F2937"/>
                </a:solidFill>
              </a:rPr>
              <a:t>Buyer: one headline; money only where Finance measured it, with estimates marked ASSUMED. Champion: a five-line note to forward.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F2937"/>
                </a:solidFill>
              </a:rPr>
              <a:t>Approval: to Corporate Comms + Legal by email, reply by 16 Nov (10 business days), per-asset options, and charts offered for their own council deck.</a:t>
            </a:r>
          </a:p>
        </p:txBody>
      </p:sp>
      <p:pic>
        <p:nvPicPr>
          <p:cNvPr id="4" name="Picture 3" descr="chart_gate_turnaround_at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94960" cy="24816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